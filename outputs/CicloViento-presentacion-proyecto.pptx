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428b3017fb040d8" /><Relationship Type="http://schemas.openxmlformats.org/officeDocument/2006/relationships/extended-properties" Target="/docProps/app.xml" Id="R7fdb97c0e1d84841" /><Relationship Type="http://schemas.openxmlformats.org/officeDocument/2006/relationships/officeDocument" Target="/ppt/presentation.xml" Id="Rb857ff71ff16454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49d5185f4644a8b"/>
  </p:sldMasterIdLst>
  <p:notesMasterIdLst>
    <p:notesMasterId xmlns:r="http://schemas.openxmlformats.org/officeDocument/2006/relationships" r:id="Rb91c898f78df4cf2"/>
  </p:notesMasterIdLst>
  <p:sldIdLst>
    <p:sldId xmlns:r="http://schemas.openxmlformats.org/officeDocument/2006/relationships" id="256" r:id="R5a4a191b081d495f"/>
    <p:sldId xmlns:r="http://schemas.openxmlformats.org/officeDocument/2006/relationships" id="257" r:id="R60b203cbb24641ce"/>
    <p:sldId xmlns:r="http://schemas.openxmlformats.org/officeDocument/2006/relationships" id="258" r:id="R178f9a7588ce418b"/>
    <p:sldId xmlns:r="http://schemas.openxmlformats.org/officeDocument/2006/relationships" id="259" r:id="R0de62dfa4bbe4d0b"/>
    <p:sldId xmlns:r="http://schemas.openxmlformats.org/officeDocument/2006/relationships" id="260" r:id="R4383e1a6e20c4fff"/>
    <p:sldId xmlns:r="http://schemas.openxmlformats.org/officeDocument/2006/relationships" id="261" r:id="Rcf0bcaba422547dd"/>
    <p:sldId xmlns:r="http://schemas.openxmlformats.org/officeDocument/2006/relationships" id="262" r:id="Rbb4e235804494570"/>
    <p:sldId xmlns:r="http://schemas.openxmlformats.org/officeDocument/2006/relationships" id="263" r:id="Re6944917ba7545e2"/>
    <p:sldId xmlns:r="http://schemas.openxmlformats.org/officeDocument/2006/relationships" id="264" r:id="Rb55460e6509a4a29"/>
    <p:sldId xmlns:r="http://schemas.openxmlformats.org/officeDocument/2006/relationships" id="265" r:id="Rd893087800924fc0"/>
    <p:sldId xmlns:r="http://schemas.openxmlformats.org/officeDocument/2006/relationships" id="266" r:id="R20487ec7b28849df"/>
    <p:sldId xmlns:r="http://schemas.openxmlformats.org/officeDocument/2006/relationships" id="267" r:id="R6cc55e7ab2c14f7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935a7825b3d468b" /><Relationship Type="http://schemas.openxmlformats.org/officeDocument/2006/relationships/slideMaster" Target="/ppt/slideMasters/slideMaster1.xml" Id="Rb49d5185f4644a8b" /><Relationship Type="http://schemas.openxmlformats.org/officeDocument/2006/relationships/notesMaster" Target="/ppt/notesMasters/notesMaster1.xml" Id="Rb91c898f78df4cf2" /><Relationship Type="http://schemas.openxmlformats.org/officeDocument/2006/relationships/presProps" Target="/ppt/presProps.xml" Id="R829014e87c024da4" /><Relationship Type="http://schemas.openxmlformats.org/officeDocument/2006/relationships/tableStyles" Target="/ppt/tableStyles.xml" Id="R00f20c4cf7ca444c" /><Relationship Type="http://schemas.openxmlformats.org/officeDocument/2006/relationships/slide" Target="/ppt/slides/slide1.xml" Id="R5a4a191b081d495f" /><Relationship Type="http://schemas.openxmlformats.org/officeDocument/2006/relationships/slide" Target="/ppt/slides/slide2.xml" Id="R60b203cbb24641ce" /><Relationship Type="http://schemas.openxmlformats.org/officeDocument/2006/relationships/slide" Target="/ppt/slides/slide3.xml" Id="R178f9a7588ce418b" /><Relationship Type="http://schemas.openxmlformats.org/officeDocument/2006/relationships/slide" Target="/ppt/slides/slide4.xml" Id="R0de62dfa4bbe4d0b" /><Relationship Type="http://schemas.openxmlformats.org/officeDocument/2006/relationships/slide" Target="/ppt/slides/slide5.xml" Id="R4383e1a6e20c4fff" /><Relationship Type="http://schemas.openxmlformats.org/officeDocument/2006/relationships/slide" Target="/ppt/slides/slide6.xml" Id="Rcf0bcaba422547dd" /><Relationship Type="http://schemas.openxmlformats.org/officeDocument/2006/relationships/slide" Target="/ppt/slides/slide7.xml" Id="Rbb4e235804494570" /><Relationship Type="http://schemas.openxmlformats.org/officeDocument/2006/relationships/slide" Target="/ppt/slides/slide8.xml" Id="Re6944917ba7545e2" /><Relationship Type="http://schemas.openxmlformats.org/officeDocument/2006/relationships/slide" Target="/ppt/slides/slide9.xml" Id="Rb55460e6509a4a29" /><Relationship Type="http://schemas.openxmlformats.org/officeDocument/2006/relationships/slide" Target="/ppt/slides/slide10.xml" Id="Rd893087800924fc0" /><Relationship Type="http://schemas.openxmlformats.org/officeDocument/2006/relationships/slide" Target="/ppt/slides/slide11.xml" Id="R20487ec7b28849df" /><Relationship Type="http://schemas.openxmlformats.org/officeDocument/2006/relationships/slide" Target="/ppt/slides/slide12.xml" Id="R6cc55e7ab2c14f7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bab5e06c2134b0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a866727dce54d8b" /><Relationship Type="http://schemas.openxmlformats.org/officeDocument/2006/relationships/notesMaster" Target="/ppt/notesMasters/notesMaster1.xml" Id="R6396542250ab431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363caa9fddd41fe" /><Relationship Type="http://schemas.openxmlformats.org/officeDocument/2006/relationships/notesMaster" Target="/ppt/notesMasters/notesMaster1.xml" Id="R291ead7ce1cd4f9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9c2146869fa4e27" /><Relationship Type="http://schemas.openxmlformats.org/officeDocument/2006/relationships/notesMaster" Target="/ppt/notesMasters/notesMaster1.xml" Id="R092bd8d86cd94b4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4391e5e1a8143f1" /><Relationship Type="http://schemas.openxmlformats.org/officeDocument/2006/relationships/notesMaster" Target="/ppt/notesMasters/notesMaster1.xml" Id="R8cbfee7f4753454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3b1c6cc004d40c5" /><Relationship Type="http://schemas.openxmlformats.org/officeDocument/2006/relationships/notesMaster" Target="/ppt/notesMasters/notesMaster1.xml" Id="R5731adb3a96f472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09b4208128b44b9" /><Relationship Type="http://schemas.openxmlformats.org/officeDocument/2006/relationships/notesMaster" Target="/ppt/notesMasters/notesMaster1.xml" Id="Rd4ca7ef2ebfb44d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35f2dc18d3e4d11" /><Relationship Type="http://schemas.openxmlformats.org/officeDocument/2006/relationships/notesMaster" Target="/ppt/notesMasters/notesMaster1.xml" Id="Rb70480d384984b0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5d3c66602814d51" /><Relationship Type="http://schemas.openxmlformats.org/officeDocument/2006/relationships/notesMaster" Target="/ppt/notesMasters/notesMaster1.xml" Id="R5c6362adb8fa4ea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10a27dc17f04cbc" /><Relationship Type="http://schemas.openxmlformats.org/officeDocument/2006/relationships/notesMaster" Target="/ppt/notesMasters/notesMaster1.xml" Id="R04bda04bef794d2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cbcf628bd5d4f30" /><Relationship Type="http://schemas.openxmlformats.org/officeDocument/2006/relationships/notesMaster" Target="/ppt/notesMasters/notesMaster1.xml" Id="R78e3e3cd38e24c1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d1626ba22ad4f67" /><Relationship Type="http://schemas.openxmlformats.org/officeDocument/2006/relationships/notesMaster" Target="/ppt/notesMasters/notesMaster1.xml" Id="R4a05ec02fee7407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e510700bf264b30" /><Relationship Type="http://schemas.openxmlformats.org/officeDocument/2006/relationships/notesMaster" Target="/ppt/notesMasters/notesMaster1.xml" Id="Rd68ae894548a472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27c14f9fff4ff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c9d0289fdf14571" /><Relationship Type="http://schemas.openxmlformats.org/officeDocument/2006/relationships/slideLayout" Target="/ppt/slideLayouts/slideLayout1.xml" Id="R6c5f17eea3244ae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c5f17eea3244ae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57f38419b843a4" /><Relationship Type="http://schemas.openxmlformats.org/officeDocument/2006/relationships/image" Target="/ppt/media/image.png" Id="R56ca59e5b63440dc" /><Relationship Type="http://schemas.openxmlformats.org/officeDocument/2006/relationships/notesSlide" Target="/ppt/notesSlides/notesSlide1.xml" Id="R0bcfedab66ef4cf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421e0bad3e47c8" /><Relationship Type="http://schemas.openxmlformats.org/officeDocument/2006/relationships/notesSlide" Target="/ppt/notesSlides/notesSlide2.xml" Id="R61b8040593bb487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3f1a75b65b49c2" /><Relationship Type="http://schemas.openxmlformats.org/officeDocument/2006/relationships/notesSlide" Target="/ppt/notesSlides/notesSlide3.xml" Id="R2916d5d1117346e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d35314217b4b87" /><Relationship Type="http://schemas.openxmlformats.org/officeDocument/2006/relationships/notesSlide" Target="/ppt/notesSlides/notesSlide4.xml" Id="R06ad5789f1bb4e7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c881014caf4766" /><Relationship Type="http://schemas.openxmlformats.org/officeDocument/2006/relationships/notesSlide" Target="/ppt/notesSlides/notesSlide5.xml" Id="Rb7ed52d18d594c9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33575fce0f4b09" /><Relationship Type="http://schemas.openxmlformats.org/officeDocument/2006/relationships/notesSlide" Target="/ppt/notesSlides/notesSlide6.xml" Id="R02c4040c6f7746f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8bf48e834641a9" /><Relationship Type="http://schemas.openxmlformats.org/officeDocument/2006/relationships/notesSlide" Target="/ppt/notesSlides/notesSlide7.xml" Id="R1125827441814cf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1d8d118d3d4251" /><Relationship Type="http://schemas.openxmlformats.org/officeDocument/2006/relationships/notesSlide" Target="/ppt/notesSlides/notesSlide8.xml" Id="R6dae0e623d90499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c534bb4c684899" /><Relationship Type="http://schemas.openxmlformats.org/officeDocument/2006/relationships/notesSlide" Target="/ppt/notesSlides/notesSlide9.xml" Id="Re4bfd945d65d4ba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a22af464a341b7" /><Relationship Type="http://schemas.openxmlformats.org/officeDocument/2006/relationships/notesSlide" Target="/ppt/notesSlides/notesSlide10.xml" Id="R38a48291f51944e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90be8f5ae441e0" /><Relationship Type="http://schemas.openxmlformats.org/officeDocument/2006/relationships/notesSlide" Target="/ppt/notesSlides/notesSlide11.xml" Id="R0e4d8e9fc52546c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747181ae6342e4" /><Relationship Type="http://schemas.openxmlformats.org/officeDocument/2006/relationships/notesSlide" Target="/ppt/notesSlides/notesSlide12.xml" Id="R0965125b89e94d7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55DC51-0171-48B0-862D-B2068E0D3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BIG school - Master de Desarrollo con IA. Proyecto TFM.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0D03DD-D529-4D88-8DF7-EA6EAB5C3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90625"/>
            <a:ext cx="5048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CicloViento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3B1414-2472-4106-9AD8-8522F6996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0"/>
            <a:ext cx="4762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Planificación de rutas de ciclismo de carretera con información meteorológica y análisis del viento.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0E8EA7-1327-440C-BFD2-847ED1D18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57625"/>
            <a:ext cx="1619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30F13C-A8F6-4913-8CB0-68AEDCA81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191000"/>
            <a:ext cx="485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React · Node.js · Clean Architecture · Supabase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89CE08-FD89-42EE-842F-E2769B96A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43450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Autor · Fernando Macías Díaz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ca59e5b63440dc"/>
          <a:srcRect xmlns:a="http://schemas.openxmlformats.org/drawingml/2006/main" l="0" t="316" r="0" b="3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57850" y="552450"/>
            <a:ext cx="5715000" cy="3486150"/>
          </a:xfrm>
          <a:prstGeom xmlns:a="http://schemas.openxmlformats.org/drawingml/2006/main" prst="roundRect">
            <a:avLst>
              <a:gd name="adj" fmla="val 3279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8D283D-CCB5-415D-AC5E-2DECD048B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19125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Documento de presentación del proyecto</a:t>
            </a:r>
          </a:p>
        </p:txBody>
      </p:sp>
    </p:spTree>
    <p:extLst>
      <p:ext uri="{BB962C8B-B14F-4D97-AF65-F5344CB8AC3E}">
        <p14:creationId xmlns:p14="http://schemas.microsoft.com/office/powerpoint/2010/main" val="15523564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A9CD83-A2CB-4DF6-A6BA-A217CE29C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NECESIDAD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210FCC-C996-4A44-A642-96ED2DC36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Planificar no es solo elegir una distancia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968050-6292-4172-A559-382876274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391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69DD10-7CA4-49E7-8C31-083986781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246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3687FE-E632-4586-A7D0-1889BBEF1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3890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CicloViento · documentación del proyecto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FDDA29-657A-436D-BB30-F09FEA5C3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389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64196C-8274-4822-921C-B57F80697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34290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9525">
            <a:solidFill>
              <a:srgbClr val="C9D3D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DA1289-F128-4A16-8A36-49EF549D9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762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159980-B789-464F-BDB4-F82DA9D50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28850"/>
            <a:ext cx="2933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Punto de partida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11A489-D8BE-498A-AE5E-356454C65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29337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La ruta debe comenzar desde una ubicación concreta y respetar la distancia y el desnivel solicitados.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A8D9E9-6530-499D-A579-2FF04D7FD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00250"/>
            <a:ext cx="34290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9525">
            <a:solidFill>
              <a:srgbClr val="C9D3D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A5D9DF-4959-4605-957E-A6B0ABA33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00250"/>
            <a:ext cx="762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8E1CF2-28B0-4913-87E1-5EB84F0D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228850"/>
            <a:ext cx="2933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Meteorología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4CF265-1223-4CBB-837C-A20086129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743200"/>
            <a:ext cx="29337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El ciclista necesita conocer la condición general, temperatura, lluvia, velocidad y rachas de viento.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C914E4-5C88-430D-95E1-D2CCC757B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00250"/>
            <a:ext cx="3429000" cy="3048000"/>
          </a:xfrm>
          <a:prstGeom xmlns:a="http://schemas.openxmlformats.org/drawingml/2006/main" prst="roundRect">
            <a:avLst>
              <a:gd name="adj" fmla="val 2500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9525">
            <a:solidFill>
              <a:srgbClr val="C9D3D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54C401-E0A8-4DEA-9B68-4497E59EC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00250"/>
            <a:ext cx="762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8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08E5B2-CB54-468F-B29D-327E42AA5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228850"/>
            <a:ext cx="2933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Regreso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786850-C7E4-4737-BB0A-C38278CF5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743200"/>
            <a:ext cx="29337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La dirección del viento puede condicionar especialmente el tramo final del recorrido.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8F216F-662B-47BC-A513-DB94C5FA5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67350"/>
            <a:ext cx="1028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Objetivo: informar y ayudar a decidir; no afirmar una optimización meteorológica inexistente.</a:t>
            </a:r>
          </a:p>
        </p:txBody>
      </p:sp>
    </p:spTree>
    <p:extLst>
      <p:ext uri="{BB962C8B-B14F-4D97-AF65-F5344CB8AC3E}">
        <p14:creationId xmlns:p14="http://schemas.microsoft.com/office/powerpoint/2010/main" val="27783498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515A04D-5B32-4DFE-841D-0923C2DBB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EXPERIENCIA DE USUARIO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9DCF86-E4AA-4D00-8169-9E6367288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De la cuenta al recorrido generado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6C40A9-39D3-4352-8A22-D0DA39383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391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82CFB1-484B-4491-8EA7-DD5258F4D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246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EA1B1C-E452-485E-9E2B-2398B4281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3890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CicloViento · documentación del proyecto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18B0EE-2F1D-4C62-88C6-B1DF024A4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389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3B5E58-8A07-447D-AD75-9C1BBE8CE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057525"/>
            <a:ext cx="4762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C5D404-F992-4595-8975-BE60B6579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3057525"/>
            <a:ext cx="4762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BD7C00-FD56-4F94-A8A0-A0E46B35E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057525"/>
            <a:ext cx="4762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695EA3-5BCC-4414-8CDB-2B2DFD78F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3057525"/>
            <a:ext cx="4762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ACC801-8D9F-4E71-B505-65E15D240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76500"/>
            <a:ext cx="16573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5F2BF2-2B97-438B-851B-D927489CB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47950"/>
            <a:ext cx="1352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Registro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0FF041-7545-486D-B648-A29151BBA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86100"/>
            <a:ext cx="13525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Contraseña temporal por correo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553094-0344-4781-A3AA-FCE2D3F9A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476500"/>
            <a:ext cx="16573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1AD61D-74EB-4AE7-978D-842BB4D12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2647950"/>
            <a:ext cx="1352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Acceso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924870-6A07-4DF6-A6F2-E019C52C4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7025" y="3086100"/>
            <a:ext cx="13525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JWT y cambio obligatorio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DF6FD6-F4E4-48D5-9DB7-5D01B77AE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76500"/>
            <a:ext cx="16573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B92E6D-1200-4831-8599-4326B9C04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647950"/>
            <a:ext cx="1352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Plan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FFE9D9-096B-48D1-9534-1DDF7DE79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086100"/>
            <a:ext cx="13525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Origen, fecha, distancia y desnivel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45BBFB-9175-42F5-9A17-C620E5D8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2476500"/>
            <a:ext cx="16573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AB20FA-DA7E-4361-BEEF-9DAC74D8C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2647950"/>
            <a:ext cx="1352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Ruta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94BFA3-3FB1-4DC3-8C56-93A732DCB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3086100"/>
            <a:ext cx="13525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Mapa, métricas y GPX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43D0F3-3493-47F1-B2E5-A8C823273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476500"/>
            <a:ext cx="16573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8B6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99BFED-A172-48A3-9BB8-2471D695E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647950"/>
            <a:ext cx="1352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Viento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B8F062-52ED-4CBB-A07B-3D8224A2C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086100"/>
            <a:ext cx="13525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Consulta y análisis por segmentos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2B4AD9-6426-443A-8BE0-A1091E8CC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Las rutas y los datos meteorológicos se solicitan explícitamente: la interfaz separa resultados para evitar interpretaciones mezcladas.</a:t>
            </a:r>
          </a:p>
        </p:txBody>
      </p:sp>
    </p:spTree>
    <p:extLst>
      <p:ext uri="{BB962C8B-B14F-4D97-AF65-F5344CB8AC3E}">
        <p14:creationId xmlns:p14="http://schemas.microsoft.com/office/powerpoint/2010/main" val="152637402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01E047-2F5F-4D25-89F7-CA469DD9B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PLANIFICACIÓN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CA5ACC-828D-4ACC-A5BD-8D73C44B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Una petición se transforma en un recorrido circular real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DE4FD5-9EC9-44F2-B0EB-7284A598E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391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C94051-220B-4419-BA44-F651ACAC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246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13060A-002D-4DF3-972C-AED86B4F4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3890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CicloViento · documentación del proyecto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A4931E-D541-4609-90E4-5D30FF519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389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26726A-6A82-4F5E-A935-38F067408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076575"/>
            <a:ext cx="4000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F08122-9CE3-4F1E-8A91-EE4A455B1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675" y="3076575"/>
            <a:ext cx="4000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8940F2-F131-437B-87C9-2BA425FEE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076575"/>
            <a:ext cx="40005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2BF9CA-3C72-488C-AAE7-3CFFEB5C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05050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2F8F90-F709-47C3-898E-2A74CE3F1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76500"/>
            <a:ext cx="1885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Formulario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E78C05-09D3-400E-B832-6777FBAB9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14650"/>
            <a:ext cx="18859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Preferencias del ciclista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E2AFB5-292D-4B80-BF11-8F96A75BA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305050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51977F-F5D6-4009-A5BB-109F8A47E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2476500"/>
            <a:ext cx="1885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RoutePlan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336CB8-E568-4F89-A009-30D23A8EB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2914650"/>
            <a:ext cx="18859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Datos validados y persistidos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451218-1EB5-4065-A136-3E7C5972B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305050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8B6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2E9855-30C8-4DE5-85E4-49A0D880C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476500"/>
            <a:ext cx="1885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ORS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503311-F9F5-41A7-93F5-3B8DD778E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914650"/>
            <a:ext cx="18859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cycling-road · round-trip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65FBE6-C2B8-45D1-AD87-17F0507C0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305050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356FC0-0239-44E0-9FB5-872FDAE0D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476500"/>
            <a:ext cx="1885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Mapa y GPX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F1D2CD-955E-4E67-8614-F8AD7125C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914650"/>
            <a:ext cx="18859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Geometría real visible y descargable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6BAAF7-A0A1-4A63-86CC-262AE5DF1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La aplicación diferencia distancia solicitada y distancia generada; no inventa geometrías cuando el proveedor no devuelve una ruta real.</a:t>
            </a:r>
          </a:p>
        </p:txBody>
      </p:sp>
    </p:spTree>
    <p:extLst>
      <p:ext uri="{BB962C8B-B14F-4D97-AF65-F5344CB8AC3E}">
        <p14:creationId xmlns:p14="http://schemas.microsoft.com/office/powerpoint/2010/main" val="175908410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124577-31B7-44B5-A209-30EF62E78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METEOROLOGÍA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751578-7E66-4C4B-B561-23173A894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Datos útiles antes de salir a pedalear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C598CC-1FFF-49D3-8EE1-2AAE2CFB5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391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19DF2E-60C1-4BBC-98A4-DB9A86E62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246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88CF03-DBD3-4DD7-80EC-E4B2E9A78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3890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CicloViento · documentación del proyecto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4ACA5F-AFB5-4091-8A06-11C9EF0AD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389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B09787-5DAA-45A1-9403-793D5D798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3476625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9525">
            <a:solidFill>
              <a:srgbClr val="C9D3D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833DE8-7AB2-41C3-9D48-99AFE3185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762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D795FD-ED1B-40B0-B968-52961E202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28850"/>
            <a:ext cx="29813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Condición general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76568F-CC1E-4D60-B557-7BA0243C3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2981325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Iconos locales interpretan el código WMO: despejado, nublado, lluvia o tormenta.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65E99B-2114-4654-B118-BC0314AD3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00250"/>
            <a:ext cx="3476625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9525">
            <a:solidFill>
              <a:srgbClr val="C9D3D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CD64B6-9062-461C-A311-C7445EB9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00250"/>
            <a:ext cx="762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6577CC-7B63-48CF-AE64-8FCF13CBA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28850"/>
            <a:ext cx="29813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Confort y precipitación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FF6DEB-5B04-47DE-AD29-F5086BE7F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43200"/>
            <a:ext cx="2981325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Temperatura, sensación térmica y probabilidad de lluvia contextualizan la salida.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00C6DB4-10D5-443E-8211-068F827F7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00250"/>
            <a:ext cx="3476625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9525">
            <a:solidFill>
              <a:srgbClr val="C9D3D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67B307-39E1-4E98-A6EF-71B1308A2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00250"/>
            <a:ext cx="762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8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0392C4-25B5-4E16-BB00-90E275978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228850"/>
            <a:ext cx="29813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Viento y seguridad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8E665D-9253-4794-B9DB-987F94567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743200"/>
            <a:ext cx="2981325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Velocidad, dirección y rachas se traducen a un nivel de riesgo visible.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C947F0-E41A-4E42-A953-86C77B4AB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34000"/>
            <a:ext cx="10382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Si la fecha no dispone aún de previsión, se comunica al usuario de forma clara en lugar de mostrar datos inválidos.</a:t>
            </a:r>
          </a:p>
        </p:txBody>
      </p:sp>
    </p:spTree>
    <p:extLst>
      <p:ext uri="{BB962C8B-B14F-4D97-AF65-F5344CB8AC3E}">
        <p14:creationId xmlns:p14="http://schemas.microsoft.com/office/powerpoint/2010/main" val="197846798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8A9E3D-4AC1-4396-AA15-DFAD5CC3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ANÁLISIS DEL VIENTO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AB1E47-5370-442F-B370-CC0D7D068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El resultado se calcula sobre la geometría de la ruta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C6144F-5E21-435D-ADD0-D38EB3EF8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391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F3F1C4-5D72-4EFB-8A30-B7DB53E3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246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7BBB0D-B754-4471-97D8-6A54F6BA8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3890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CicloViento · documentación del proyecto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4D2BFE-D863-41D2-830B-E434C6B14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389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154491-D97C-484A-AE7D-9FC1378F7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3381375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9525">
            <a:solidFill>
              <a:srgbClr val="C9D3D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66F4D4-EEF0-444B-AA0A-D60661A2E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762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3DFE73-90EB-437F-878F-D6735FC55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81225"/>
            <a:ext cx="28860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1. Segmentación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6CFBFF-D7A6-4AA7-8264-65947FE81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95575"/>
            <a:ext cx="28860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A partir de puntos consecutivos se calcula bearing y distancia Haversine.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62C54C-CFFC-4E96-B454-E1E96A9C6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952625"/>
            <a:ext cx="3381375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9525">
            <a:solidFill>
              <a:srgbClr val="C9D3D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710759-6575-4ED5-959A-F69D99A27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952625"/>
            <a:ext cx="762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344589-A10F-4C01-924D-0F0A52FF3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181225"/>
            <a:ext cx="28860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2. Componentes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1C862B-FD0E-4922-8C70-5D5D6EDBC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695575"/>
            <a:ext cx="28860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La dirección meteorológica se convierte en desplazamiento del aire y se clasifica en tailwind, headwind o crosswind.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4E117B-E42F-4677-A751-D970D8C4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952625"/>
            <a:ext cx="3381375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9525">
            <a:solidFill>
              <a:srgbClr val="C9D3D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FDA371-ED04-401F-86D5-D4E67A50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1952625"/>
            <a:ext cx="7620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8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7B76CE-F20D-47D8-88C4-4C0361986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181225"/>
            <a:ext cx="28860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3. Resultado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655CAD-A6AE-42CF-B11B-0E0572407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95575"/>
            <a:ext cx="28860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Los porcentajes se ponderan por metros. El regreso se analiza de forma independiente y genera favorableWindScore.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8963EA-875D-46DE-9C6F-EC87F0B13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1495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El nivel de riesgo es independiente de la favorabilidad: una ruta con viento favorable no se presenta como segura si las rachas son peligrosas.</a:t>
            </a:r>
          </a:p>
        </p:txBody>
      </p:sp>
    </p:spTree>
    <p:extLst>
      <p:ext uri="{BB962C8B-B14F-4D97-AF65-F5344CB8AC3E}">
        <p14:creationId xmlns:p14="http://schemas.microsoft.com/office/powerpoint/2010/main" val="112737989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58426F-714A-4DBA-8AB9-B2AE48E1C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RUTAS FAVORABLES AL VIENTO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EC40F0-AD85-4263-A167-98C90243F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Tres candidatas y una selección explicable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C7A434-9B03-4423-96F1-5149C9153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391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294C2B-3119-440D-A3F8-110825003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246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211E82-FD90-4C1B-B62D-01F073CEC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3890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CicloViento · documentación del proyecto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36A5CE-CEF0-4CFD-BF95-BE7162104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389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EDAD33-0C96-451D-95F2-6B3F7EFF2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43150"/>
            <a:ext cx="23812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BF40A1-44D0-4F6E-8F9A-C26C7A7A8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2076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Seeds 1 → 2 → 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6FA971-5105-4E0D-96D1-0F7983E72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20764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Hasta tres solicitudes secuenciales a routing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F402E7-BCB8-4038-95F6-F2AFEA83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048000"/>
            <a:ext cx="590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105A42-6AF0-429F-9F1E-E1DB90441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343150"/>
            <a:ext cx="23812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F8B6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9A4027-C536-4882-81B3-DE3E7BF97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14600"/>
            <a:ext cx="2076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±20 %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D1CAF0-8390-4E55-A913-003DDACA2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952750"/>
            <a:ext cx="20764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Se marca si cada candidata cumple la tolerancia de distancia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4F8A6D-342E-42B0-A8F6-9B3DE5138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048000"/>
            <a:ext cx="590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7A5764-3D02-44FE-A956-0D3FD62EE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343150"/>
            <a:ext cx="20002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B2E58D-24B3-4A66-B644-14D61A253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514600"/>
            <a:ext cx="1695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Optimizada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773F21-1560-48E8-A846-3C7DF43D5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952750"/>
            <a:ext cx="16954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Dentro del margen: mayor favorableWindScore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7516B3-0620-460B-AEB3-8A679B661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343150"/>
            <a:ext cx="20002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800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B225AA-F816-4BD5-B469-AF252CD36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514600"/>
            <a:ext cx="1695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Fallback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531C8F-748D-4468-B315-49E37933B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952750"/>
            <a:ext cx="16954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Fuera del margen: ruta real más cercana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B01C9E-F5C0-46D6-8942-9B9166163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482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Si ninguna llamada devuelve una ruta real, se muestra un error controlado. No se devuelve un resultado ficticio.</a:t>
            </a:r>
          </a:p>
        </p:txBody>
      </p:sp>
    </p:spTree>
    <p:extLst>
      <p:ext uri="{BB962C8B-B14F-4D97-AF65-F5344CB8AC3E}">
        <p14:creationId xmlns:p14="http://schemas.microsoft.com/office/powerpoint/2010/main" val="18343059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AF45EA-76B0-43E3-A2D1-8A9A091A1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ARQUITECTURA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9E40C7-9D34-4EB5-B1D7-AD31AE9EE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Clean Architecture protege las reglas del dominio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DF62DC-1236-44DC-B82A-B147B2BFA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391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66B945-ED29-48F4-94DC-45E01B3C4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246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C3AB09-56F9-4133-9DFA-4C14FE73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3890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CicloViento · documentación del proyecto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10D380-A451-4D81-A3E7-6CB989B02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389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75FA58-B3C0-4096-88A7-2599ECBBA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495550"/>
            <a:ext cx="1047750" cy="31432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2B0000-C163-4C1C-8264-FEE9FBD62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3409950"/>
            <a:ext cx="1047750" cy="31432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97C0CB-B7B9-4928-98E8-35C09BE48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324350"/>
            <a:ext cx="1047750" cy="314325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B2557A-8921-4493-9E73-E9E5DC671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943100"/>
            <a:ext cx="60579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9525">
            <a:solidFill>
              <a:srgbClr val="C9D3D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D8968D-4367-4F49-A626-99B53453C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14550"/>
            <a:ext cx="1857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Presentation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7B9E41-9370-4E98-A0A4-73BBF70B3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1526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Express, rutas, controllers y middleware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DD6340-520D-4B94-B439-B4AEA8AD0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857500"/>
            <a:ext cx="60579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9525">
            <a:solidFill>
              <a:srgbClr val="C9D3D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F5C763-68BE-4F2B-9CD3-07D0CCDF6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028950"/>
            <a:ext cx="1857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Application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92C5EF-C465-4724-ACD9-C3A72E29F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0670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Casos de uso y contratos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1C3AB0-4F33-4221-BF77-A1A966C16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771900"/>
            <a:ext cx="60579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8F4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F8B3D3-CF1A-440B-B057-271014FA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943350"/>
            <a:ext cx="1857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Domain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A63A13-DE59-413D-B176-213C7A024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9814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Entidades, reglas y repositorios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73C45A-73C3-4E3A-ADDF-FC38DF5A9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686300"/>
            <a:ext cx="60579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9525">
            <a:solidFill>
              <a:srgbClr val="C9D3D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43142E-A32F-42A4-8073-A653A4C7B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857750"/>
            <a:ext cx="1857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Infrastructure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12C194-C853-4101-9AD3-9191A56A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8958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468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Prisma, correo, ORS, Open-Meteo y configuración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84B572-7EED-4953-BC19-CD0E65CBE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19750"/>
            <a:ext cx="1057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Regla fundamental: Domain no depende de Express, Prisma, Supabase, React ni proveedores externos.</a:t>
            </a:r>
          </a:p>
        </p:txBody>
      </p:sp>
    </p:spTree>
    <p:extLst>
      <p:ext uri="{BB962C8B-B14F-4D97-AF65-F5344CB8AC3E}">
        <p14:creationId xmlns:p14="http://schemas.microsoft.com/office/powerpoint/2010/main" val="152149578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B34DCB-8535-4274-8722-23C49431D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SEGURIDAD Y CALIDAD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17951A-219A-4BB3-91EF-079E63DC3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Credenciales protegidas y validación técnica continua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F40588-7FA7-4993-9667-2E7CAB7DA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391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D93E0F-B697-4BF5-9959-E72F70FC8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246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9260AA-27DA-451D-987E-91C663832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3890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CicloViento · documentación del proyecto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016587-563B-4800-923F-EC096861C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389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FBC076-62D4-48F6-943D-E41D594BE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3543300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9525">
            <a:solidFill>
              <a:srgbClr val="C9D3D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AAE5CF-CF5D-4E46-86C6-9201B945F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762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C2FE32-4238-4BA6-AC72-958F41A5D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2885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Contraseñas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75F422-8658-4303-83BA-E0103F2B1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30480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La contraseña temporal se genera en backend, se envía por correo y solo se persiste passwordHash. Nunca vuelve por HTTP.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216F96-C6B7-4022-9F7C-F150AC9AE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000250"/>
            <a:ext cx="3543300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9525">
            <a:solidFill>
              <a:srgbClr val="C9D3D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BAD88A-A7AC-4F66-8E87-13F9104F0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000250"/>
            <a:ext cx="762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FB1866-F6B1-442B-9D3E-B3FF7D2E4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22885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Autenticación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B46B47-3EB7-4950-8A49-1022A8CE7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743200"/>
            <a:ext cx="30480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JWT firmado, Bearer middleware y mustChangePassword bloquean el acceso normal hasta renovar la contraseña.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81B158-2ED5-4321-A38C-617BCA0BF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00250"/>
            <a:ext cx="3543300" cy="2971800"/>
          </a:xfrm>
          <a:prstGeom xmlns:a="http://schemas.openxmlformats.org/drawingml/2006/main" prst="roundRect">
            <a:avLst>
              <a:gd name="adj" fmla="val 2564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9525">
            <a:solidFill>
              <a:srgbClr val="C9D3D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6E3591-6497-4CFC-8A4C-4E506B218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00250"/>
            <a:ext cx="76200" cy="2971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8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AE32C2-75B5-49D1-82CD-D2BE9C92F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22885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Calidad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647054-57D2-4F29-853F-CC8F61FF1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743200"/>
            <a:ext cx="3048000" cy="2019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Tests backend, TypeScript, build frontend, lint y health check validan el estado del proyecto.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8274E4-3C75-47A0-A870-564AC15F3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1020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Secretos y credenciales permanecen en variables de entorno, fuera de los archivos versionados.</a:t>
            </a:r>
          </a:p>
        </p:txBody>
      </p:sp>
    </p:spTree>
    <p:extLst>
      <p:ext uri="{BB962C8B-B14F-4D97-AF65-F5344CB8AC3E}">
        <p14:creationId xmlns:p14="http://schemas.microsoft.com/office/powerpoint/2010/main" val="124030668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B451DD-4703-4E41-98C4-095107E90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DESPLIEGUE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1B48DC-A91A-42F0-88BA-E46085E6D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La aplicación está disponible para su utilización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18EE28-74F7-4652-BEE1-90FBD6952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391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A8E716-AC4E-48EB-AEF2-849CD462E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246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D5D8F6-5325-4291-B0CE-50165BB5F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3890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CicloViento · documentación del proyecto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0E39C2-AF1C-4062-BEB3-4D626CC08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389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40C114-2842-41CB-9AFD-2F77BAB70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3476625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9525">
            <a:solidFill>
              <a:srgbClr val="C9D3D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70450E-0A1A-42C3-8917-892B817E8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762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2D60E0-4C39-4B06-85A3-6BFEC5513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28850"/>
            <a:ext cx="29813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Frontend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74DE3B-7507-4601-89AD-1848DE413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2981325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Static Site en Render</a:t>
            </a:r>
          </a:p>
          <a:p xmlns:a="http://schemas.openxmlformats.org/drawingml/2006/main">
            <a:pPr algn="l">
              <a:defRPr sz="13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https://cicloviento.onrender.com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698FD5-A9BF-40E6-9C64-E593A5E6E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00250"/>
            <a:ext cx="3476625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9525">
            <a:solidFill>
              <a:srgbClr val="C9D3D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DAA6DF-49B0-4A81-801B-2EFA0A8A0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00250"/>
            <a:ext cx="762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7EDEB1-6E1F-4827-9CF3-9DD383AC0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28850"/>
            <a:ext cx="29813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Backend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F4FD1C-7826-4904-820C-E60D1A395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43200"/>
            <a:ext cx="2981325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Web Service en Render</a:t>
            </a:r>
          </a:p>
          <a:p xmlns:a="http://schemas.openxmlformats.org/drawingml/2006/main">
            <a:pPr algn="l">
              <a:defRPr sz="13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https://cicloviento-api.onrender.com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8ADBC6-984F-4C95-9679-2327E4158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00250"/>
            <a:ext cx="3476625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9525">
            <a:solidFill>
              <a:srgbClr val="C9D3D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390235-9818-4921-AF45-B63404418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000250"/>
            <a:ext cx="762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8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1F6466-AC74-46BE-8B98-C025DC47E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228850"/>
            <a:ext cx="29813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Persistencia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7ADA84-796D-4BE6-9CFB-8B8A6562A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743200"/>
            <a:ext cx="2981325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Supabase PostgreSQL mediante Prisma</a:t>
            </a:r>
          </a:p>
          <a:p xmlns:a="http://schemas.openxmlformats.org/drawingml/2006/main">
            <a:pPr algn="l">
              <a:defRPr sz="13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Health check operativo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C6D5DA-D022-4515-B31B-9D1C81F84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721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La configuración sensible se mantiene únicamente en Render. El backend Starter permite el envío SMTP de credenciales iniciales.</a:t>
            </a:r>
          </a:p>
        </p:txBody>
      </p:sp>
    </p:spTree>
    <p:extLst>
      <p:ext uri="{BB962C8B-B14F-4D97-AF65-F5344CB8AC3E}">
        <p14:creationId xmlns:p14="http://schemas.microsoft.com/office/powerpoint/2010/main" val="49759849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D10E55-264F-4EFC-80DA-3F0038161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48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ESTADO Y EVOLUCIÓN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5B1168-C251-4B56-8FCD-99DDE0AD3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770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Un MVP funcional con límites documentados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B39234-2B57-4AFC-8C20-6D56091D4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66850"/>
            <a:ext cx="11391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CB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4EAC0F-E2C1-4D54-A85E-8004EA23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246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580F3B-0D50-4462-B778-07F7DCAB7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3890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CicloViento · documentación del proyecto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6F2C2A-0392-4CE2-98EF-5007C979F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389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D9D371-FC14-4C3C-91C4-3A180B046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5286375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9525">
            <a:solidFill>
              <a:srgbClr val="C9D3D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A5AF2E-AC12-400B-B3C6-82949EFD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00250"/>
            <a:ext cx="762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8B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C85AC2-C523-4275-BC09-3F6DF171F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28850"/>
            <a:ext cx="47910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Implementado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4F4A87-C8C0-4127-86B6-CC2FCAF2D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43200"/>
            <a:ext cx="4791075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Registro y login · cambio obligatorio de contraseña · planificación · geocodificación · ruta circular · mapa · GPX · meteorología · análisis de viento · fallback por distancia · despliegue.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071562-C147-4982-8471-71B5251FF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000250"/>
            <a:ext cx="5286375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9525">
            <a:solidFill>
              <a:srgbClr val="C9D3D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3A863F-897A-4C07-838B-B2B8B30EB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000250"/>
            <a:ext cx="762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8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FFB4D2-D5E9-4ECA-B8E1-717C2F772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28850"/>
            <a:ext cx="47910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Siguiente evolución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A89B97-8A8D-432C-B48E-7FA7E0DEC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43200"/>
            <a:ext cx="4791075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Recuperación de contraseña · refresh tokens · preferencias · alternativas de ruta · optimización avanzada · meteorología por tramos y hora · integraciones Garmin/Strava · IA.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4BAABE-5A00-4268-97CF-EE8CE02F1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562600"/>
            <a:ext cx="1019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La presentación diferencia expresamente la funcionalidad real de las líneas de evolución futura.</a:t>
            </a:r>
          </a:p>
        </p:txBody>
      </p:sp>
    </p:spTree>
    <p:extLst>
      <p:ext uri="{BB962C8B-B14F-4D97-AF65-F5344CB8AC3E}">
        <p14:creationId xmlns:p14="http://schemas.microsoft.com/office/powerpoint/2010/main" val="125982598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9D0A27-5FD2-42D8-B855-2C0D5698D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72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CIERRE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233BBF-8FEC-41B0-A31B-73D64981C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6858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470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CicloViento convierte datos de ruta y viento en una decisión más informada.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52C26E-544A-4449-9584-3711DB5EE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62300"/>
            <a:ext cx="6096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Una base funcional y desplegada que conserva la separación arquitectónica necesaria para evolucionar el sistema.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3B5288-684D-409F-87B6-9C51B3363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619250"/>
            <a:ext cx="30480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1F5F8"/>
          </a:solidFill>
          <a:ln xmlns:a="http://schemas.openxmlformats.org/drawingml/2006/main" w="9525">
            <a:solidFill>
              <a:srgbClr val="C9D3D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2700CD-EB2F-4F89-9F41-D45D5077A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764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B1B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B1B2B"/>
                </a:solidFill>
                <a:latin typeface="Arial"/>
                <a:ea typeface="Arial"/>
                <a:cs typeface="Arial"/>
              </a:rPr>
              <a:t>Aplicación disponible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DF2D00-E288-464E-98EC-072BC729B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781300"/>
            <a:ext cx="247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cicloviento.onrender.com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6D529D-2916-4A4E-90B5-B25EECF56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2460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FCBCD5-F460-48F7-91D8-C5557E66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38900"/>
            <a:ext cx="3619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CicloViento · documentación del proyecto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037141-73C5-4112-A7EB-07FA4044C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389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3627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36273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0094225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2026-08-19T18:00:11.1210000Z</dcterms:created>
  <dcterms:modified xsi:type="dcterms:W3CDTF">2026-08-19T18:00:11.1210000Z</dcterms:modified>
</coreProperties>
</file>